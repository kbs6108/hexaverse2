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280160"/>
            <a:ext cx="1371600" cy="960120"/>
          </a:xfrm>
          <a:prstGeom prst="rect">
            <a:avLst/>
          </a:prstGeom>
          <a:solidFill>
            <a:srgbClr val="1F2A26"/>
          </a:solidFill>
          <a:ln w="12700">
            <a:solidFill>
              <a:srgbClr val="4FC39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0" y="128016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FC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938260" y="1280160"/>
            <a:ext cx="1097280" cy="960120"/>
          </a:xfrm>
          <a:prstGeom prst="rect">
            <a:avLst/>
          </a:prstGeom>
          <a:solidFill>
            <a:srgbClr val="1B3A31"/>
          </a:solidFill>
          <a:ln w="12700">
            <a:solidFill>
              <a:srgbClr val="4FC3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38260" y="128016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FC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123/1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104120" y="1280160"/>
            <a:ext cx="1234440" cy="1577340"/>
          </a:xfrm>
          <a:prstGeom prst="rect">
            <a:avLst/>
          </a:prstGeom>
          <a:solidFill>
            <a:srgbClr val="1F2A26"/>
          </a:solidFill>
          <a:ln w="12700">
            <a:solidFill>
              <a:srgbClr val="4FC39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04120" y="1280160"/>
            <a:ext cx="123444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FC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98080" y="2308860"/>
            <a:ext cx="822960" cy="1234440"/>
          </a:xfrm>
          <a:prstGeom prst="rect">
            <a:avLst/>
          </a:prstGeom>
          <a:solidFill>
            <a:srgbClr val="26332E"/>
          </a:solidFill>
          <a:ln w="12700">
            <a:solidFill>
              <a:srgbClr val="4FC39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0" y="230886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FC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89620" y="2308860"/>
            <a:ext cx="1645920" cy="1234440"/>
          </a:xfrm>
          <a:prstGeom prst="rect">
            <a:avLst/>
          </a:prstGeom>
          <a:solidFill>
            <a:srgbClr val="1B3A31"/>
          </a:solidFill>
          <a:ln w="12700">
            <a:solidFill>
              <a:srgbClr val="4FC3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9620" y="230886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FC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123/2A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104120" y="2926080"/>
            <a:ext cx="1234440" cy="617220"/>
          </a:xfrm>
          <a:prstGeom prst="rect">
            <a:avLst/>
          </a:prstGeom>
          <a:solidFill>
            <a:srgbClr val="1F2A26"/>
          </a:solidFill>
          <a:ln w="12700">
            <a:solidFill>
              <a:srgbClr val="4FC39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104120" y="2926080"/>
            <a:ext cx="12344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FC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280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FC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· PS SIH26014 · DEPARTMENT OF LAND RESOURCES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7373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Stack</a:t>
            </a:r>
            <a:endParaRPr lang="en-US" sz="6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4FC3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parcel. One key. Every record.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576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GIS-based Digital Public Infrastructure that joins land records, registration, planning, tax, disputes and utilities to a single ULPIN-style parcel identifier — built as a working prototype in seven days.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Land Stack · Technical architecture and build plan ·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one plot means six offices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information exists — it is just held in systems that do not talk to each other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of Rights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23160" y="17373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14600" y="17830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Sub-Registrar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Deeds &amp; encumbrance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17830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permission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7830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plan &amp; zoning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17830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tax &amp; valuation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21240" y="17373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12680" y="17830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· power · roads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wants to buy Survey No. 123/4. He needs to know: who owns it, is it mortgaged, is it in court, is it residential, is tax paid, can he build. Each answer lives in a different database with a different identifier — khata, document number, assessment number, patta — and none of them reference the same map.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200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have rolled out ULPIN — the key exists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4206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4206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pilots live (Chandigarh, Tamil Nadu, Dec 2025)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52120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5212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APIs exposed by those pilots for other systems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make the parcel the primary key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department keeps its own system; Land Stack joins them through where the land 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514600" y="2423160"/>
            <a:ext cx="3566160" cy="1371600"/>
          </a:xfrm>
          <a:prstGeom prst="line">
            <a:avLst/>
          </a:prstGeom>
          <a:noFill/>
          <a:ln w="15875">
            <a:solidFill>
              <a:srgbClr val="D9D7C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 flipH="1">
            <a:off x="6080760" y="2057400"/>
            <a:ext cx="9144" cy="1737360"/>
          </a:xfrm>
          <a:prstGeom prst="line">
            <a:avLst/>
          </a:prstGeom>
          <a:noFill/>
          <a:ln w="15875">
            <a:solidFill>
              <a:srgbClr val="D9D7C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H="1">
            <a:off x="6080760" y="2423160"/>
            <a:ext cx="3566160" cy="1371600"/>
          </a:xfrm>
          <a:prstGeom prst="line">
            <a:avLst/>
          </a:prstGeom>
          <a:noFill/>
          <a:ln w="15875">
            <a:solidFill>
              <a:srgbClr val="D9D7C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H="1">
            <a:off x="2514600" y="3794760"/>
            <a:ext cx="3566160" cy="1371600"/>
          </a:xfrm>
          <a:prstGeom prst="line">
            <a:avLst/>
          </a:prstGeom>
          <a:noFill/>
          <a:ln w="15875">
            <a:solidFill>
              <a:srgbClr val="D9D7C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080760" y="3794760"/>
            <a:ext cx="9144" cy="1737360"/>
          </a:xfrm>
          <a:prstGeom prst="line">
            <a:avLst/>
          </a:prstGeom>
          <a:noFill/>
          <a:ln w="15875">
            <a:solidFill>
              <a:srgbClr val="D9D7C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080760" y="3794760"/>
            <a:ext cx="3566160" cy="1371600"/>
          </a:xfrm>
          <a:prstGeom prst="line">
            <a:avLst/>
          </a:prstGeom>
          <a:noFill/>
          <a:ln w="15875">
            <a:solidFill>
              <a:srgbClr val="D9D7C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074920" y="2788920"/>
            <a:ext cx="2011680" cy="2011680"/>
          </a:xfrm>
          <a:prstGeom prst="ellipse">
            <a:avLst/>
          </a:prstGeom>
          <a:solidFill>
            <a:srgbClr val="0E6B54"/>
          </a:solidFill>
          <a:ln w="12700">
            <a:solidFill>
              <a:srgbClr val="0E6B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27889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</a:t>
            </a:r>
            <a:endParaRPr lang="en-US" sz="11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TDR1K3M9A2F7C1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CE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ULPIN-style key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2039112"/>
            <a:ext cx="21031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E6B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00200" y="208483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RoR · khata · patta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1673352"/>
            <a:ext cx="21031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E6B5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66360" y="171907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deeds · encumbrance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95360" y="2039112"/>
            <a:ext cx="21031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E6B5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32520" y="208483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· permissions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63040" y="4782312"/>
            <a:ext cx="21031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E6B5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00200" y="482803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· guideline value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5148072"/>
            <a:ext cx="21031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E6B5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66360" y="519379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· attachments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95360" y="4782312"/>
            <a:ext cx="210312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0E6B5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32520" y="482803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· power · roads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parcel → the gateway asks all six systems in parallel → one profile with a source badge on every field. Departments never share tables; they share a key and an API contract.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problem statement grades — and what we ship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requirements read straight from the PS text; every deliverable traces to 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457200" cy="457200"/>
          </a:xfrm>
          <a:prstGeom prst="ellipse">
            <a:avLst/>
          </a:prstGeom>
          <a:solidFill>
            <a:srgbClr val="0E6B54"/>
          </a:solidFill>
          <a:ln w="12700">
            <a:solidFill>
              <a:srgbClr val="0E6B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45920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parcel visualisation in three tiers: base · essential · use-case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645920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64592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Explorer with a layer tree organised by exactly those tiers, served as vector tiles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05456"/>
            <a:ext cx="457200" cy="457200"/>
          </a:xfrm>
          <a:prstGeom prst="ellipse">
            <a:avLst/>
          </a:prstGeom>
          <a:solidFill>
            <a:srgbClr val="0E6B54"/>
          </a:solidFill>
          <a:ln w="12700">
            <a:solidFill>
              <a:srgbClr val="0E6B5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395728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datasets + interoperable workflows across records, registration, dispute, planning, fiscal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395728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95728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department APIs with their own docs; aggregator; live event-driven sync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457200" cy="457200"/>
          </a:xfrm>
          <a:prstGeom prst="ellipse">
            <a:avLst/>
          </a:prstGeom>
          <a:solidFill>
            <a:srgbClr val="0E6B54"/>
          </a:solidFill>
          <a:ln w="12700">
            <a:solidFill>
              <a:srgbClr val="0E6B5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45536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administrative dashboards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145536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145536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Console: KPIs, filters, departmental work queue, approvals with audit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05072"/>
            <a:ext cx="457200" cy="457200"/>
          </a:xfrm>
          <a:prstGeom prst="ellipse">
            <a:avLst/>
          </a:prstGeom>
          <a:solidFill>
            <a:srgbClr val="0E6B54"/>
          </a:solidFill>
          <a:ln w="12700">
            <a:solidFill>
              <a:srgbClr val="0E6B5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895344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Citizen: parcel search, ownership verification, status tracking, service requests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895344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895344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Portal with those four functions + QR-verifiable Land Information Report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0E6B54"/>
          </a:solidFill>
          <a:ln w="12700">
            <a:solidFill>
              <a:srgbClr val="0E6B5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645152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APIs, standard metadata, secure auth, RBAC, audit trails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4645152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645152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OGC API Features-shaped endpoints, JWT roles, append-only audit shown in the UI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504688"/>
            <a:ext cx="457200" cy="457200"/>
          </a:xfrm>
          <a:prstGeom prst="ellipse">
            <a:avLst/>
          </a:prstGeom>
          <a:solidFill>
            <a:srgbClr val="0E6B54"/>
          </a:solidFill>
          <a:ln w="12700">
            <a:solidFill>
              <a:srgbClr val="0E6B5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394960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Technical Document (API, interop, schema, GIS, security, UI/UX, colour, deployment)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5394960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539496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the companion Word document; kept in repo as /docs/STD.md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surfaces, one 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React app; the role decides the landing page, the map is shared by everyone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556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Explorer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148840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map, three-tier layer tree with legends, search by ULPIN / survey no. / owner, hover mini-card, colour-by land use · status · tax · alerts.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13232" y="3383280"/>
            <a:ext cx="1165860" cy="274320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3383280"/>
            <a:ext cx="116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2272" y="17556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Parcel Profile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62272" y="2148840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record by department with source badge and as-of time on each block. Tabs: Ownership · Registration · Planning · Fiscal · Utilities · Timeline · Satellite.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62272" y="3383280"/>
            <a:ext cx="2400300" cy="274320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62272" y="3383280"/>
            <a:ext cx="2400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consent-masked for citizens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11312" y="17556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Portal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11312" y="2148840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parcel · Verify ownership · Track application · Request a service (mutation, building permission). Signed PDF report with QR.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11312" y="3383280"/>
            <a:ext cx="1028700" cy="274320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11312" y="3383280"/>
            <a:ext cx="1028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40416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Console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4434840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land-use breakdown, filterable map, departmental work queue, approve / return / reject with mandatory remark.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232" y="5669280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5669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officer: revenue / registration / planning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62272" y="40416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Integration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462272" y="4434840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health and latency, adapter field mappings, consistency findings, 'Simulate upstream change' for the demo.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62272" y="5669280"/>
            <a:ext cx="891540" cy="274320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62272" y="5669280"/>
            <a:ext cx="891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11312" y="404164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 panel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11312" y="4434840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vs 2025 Sentinel-2, NDVI/NDBI change, classified label with confidence, 'Send for field review' creates a queue task.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11312" y="5669280"/>
            <a:ext cx="1577340" cy="274320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11312" y="5669280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/ admin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client · gateway · departments · data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docker compose up. One FastAPI process, six independently documented sub-apps, one PostGIS.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4526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9D7C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8580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· VITE + REACT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429000" y="1600200"/>
            <a:ext cx="30175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9D7C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56616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· FASTAPI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75120" y="1600200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9D7CC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81228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SUB-APPS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646920" y="1600200"/>
            <a:ext cx="2011680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7CC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9784080" y="1664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201168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DCEEE7"/>
          </a:solidFill>
          <a:ln w="9525">
            <a:solidFill>
              <a:srgbClr val="0E6B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0116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Explorer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GL · MVT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670048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6700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Profile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masking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328416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32841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Portal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verify · track · request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986784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867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Console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queue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645152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64515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Integration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· mappings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530352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303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Basemaps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OpenFreeMap · Esri imagery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2011680"/>
            <a:ext cx="2743200" cy="448056"/>
          </a:xfrm>
          <a:prstGeom prst="roundRect">
            <a:avLst>
              <a:gd name="adj" fmla="val 12245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57600" y="2011680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JWT · RBAC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· officer:&lt;dept&gt; · admin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6160" y="2510028"/>
            <a:ext cx="2743200" cy="448056"/>
          </a:xfrm>
          <a:prstGeom prst="roundRect">
            <a:avLst>
              <a:gd name="adj" fmla="val 12245"/>
            </a:avLst>
          </a:prstGeom>
          <a:solidFill>
            <a:srgbClr val="DCEEE7"/>
          </a:solidFill>
          <a:ln w="9525">
            <a:solidFill>
              <a:srgbClr val="0E6B5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57600" y="2510028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Aggregator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/landstack/parcels/{ulpin}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3008376"/>
            <a:ext cx="2743200" cy="448056"/>
          </a:xfrm>
          <a:prstGeom prst="roundRect">
            <a:avLst>
              <a:gd name="adj" fmla="val 12245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57600" y="3008376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registry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↔ source YAML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3506724"/>
            <a:ext cx="2743200" cy="448056"/>
          </a:xfrm>
          <a:prstGeom prst="roundRect">
            <a:avLst>
              <a:gd name="adj" fmla="val 12245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57600" y="3506724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transitions table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4005072"/>
            <a:ext cx="2743200" cy="448056"/>
          </a:xfrm>
          <a:prstGeom prst="roundRect">
            <a:avLst>
              <a:gd name="adj" fmla="val 12245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57600" y="400507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66160" y="4503420"/>
            <a:ext cx="2743200" cy="448056"/>
          </a:xfrm>
          <a:prstGeom prst="roundRect">
            <a:avLst>
              <a:gd name="adj" fmla="val 12245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57600" y="4503420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WeasyPrint + QR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/verify/{id}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66160" y="5001768"/>
            <a:ext cx="2743200" cy="448056"/>
          </a:xfrm>
          <a:prstGeom prst="roundRect">
            <a:avLst>
              <a:gd name="adj" fmla="val 12245"/>
            </a:avLst>
          </a:prstGeom>
          <a:solidFill>
            <a:srgbClr val="F5EAD0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57600" y="5001768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change detection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NDVI/NDBI Δ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566160" y="5500116"/>
            <a:ext cx="2743200" cy="448056"/>
          </a:xfrm>
          <a:prstGeom prst="roundRect">
            <a:avLst>
              <a:gd name="adj" fmla="val 12245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657600" y="5500116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PostGIS → vector tiles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12280" y="2011680"/>
            <a:ext cx="2468880" cy="493776"/>
          </a:xfrm>
          <a:prstGeom prst="roundRect">
            <a:avLst>
              <a:gd name="adj" fmla="val 11111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201168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RoR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/revenue/docs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12280" y="2578608"/>
            <a:ext cx="2468880" cy="493776"/>
          </a:xfrm>
          <a:prstGeom prst="roundRect">
            <a:avLst>
              <a:gd name="adj" fmla="val 11111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903720" y="257860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/registration/docs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12280" y="3145536"/>
            <a:ext cx="2468880" cy="493776"/>
          </a:xfrm>
          <a:prstGeom prst="roundRect">
            <a:avLst>
              <a:gd name="adj" fmla="val 11111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03720" y="3145536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Building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/planning/docs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12280" y="3712464"/>
            <a:ext cx="2468880" cy="493776"/>
          </a:xfrm>
          <a:prstGeom prst="roundRect">
            <a:avLst>
              <a:gd name="adj" fmla="val 11111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03720" y="371246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/fiscal/docs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12280" y="4279392"/>
            <a:ext cx="2468880" cy="493776"/>
          </a:xfrm>
          <a:prstGeom prst="roundRect">
            <a:avLst>
              <a:gd name="adj" fmla="val 11111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903720" y="427939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&amp; Encumbrance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/legal/docs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12280" y="4846320"/>
            <a:ext cx="2468880" cy="493776"/>
          </a:xfrm>
          <a:prstGeom prst="roundRect">
            <a:avLst>
              <a:gd name="adj" fmla="val 11111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03720" y="484632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/utilities/docs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12280" y="5413248"/>
            <a:ext cx="2468880" cy="493776"/>
          </a:xfrm>
          <a:prstGeom prst="roundRect">
            <a:avLst>
              <a:gd name="adj" fmla="val 11111"/>
            </a:avLst>
          </a:prstGeom>
          <a:solidFill>
            <a:srgbClr val="DCEEE7"/>
          </a:solidFill>
          <a:ln w="9525">
            <a:solidFill>
              <a:srgbClr val="0E6B5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903720" y="541324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outbox → webhook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deed_registered → /events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784080" y="201168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875520" y="2011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 + PostGIS 3.5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landstack · dept_* · gis schemas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784080" y="292608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875520" y="2926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(optional)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cache · AI job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784080" y="384048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875520" y="3840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volume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· deeds · S2 COGs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784080" y="475488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875520" y="4754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(flagged)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Planetary Computer · Bhuvan WMS · Gemini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Sync: parallel fan-out, 300 ms budget, partial results with per-source provenance.   Async: department outbox → webhook → cache invalidation, audit, alert, queued task.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Stack: built for one week, defensible at scale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pick names what it beat and why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892808"/>
            <a:ext cx="11155680" cy="420624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20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GL JS 6 + react-map-gl 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· OpenLayers · deck.gl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tiles, WebGL for 50k polygons, feature-state hover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350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Basemaps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2350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OpenFreeMap + Esri World Imagery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3500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raster (policy forbids) · MapTiler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350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key, no card, no cap; imagery is reliable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752344"/>
            <a:ext cx="11155680" cy="420624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7797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27797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1.8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7797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pg_tileserv · PMTiles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779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PostGIS → MVT; live edits visible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2095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32095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 2 async + GeoAlchemy2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32095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GeoDjango · NestJS + Prisma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32095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OpenAPI per sub-app; Python for the AI path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611880"/>
            <a:ext cx="11155680" cy="420624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36393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920240" y="3639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postgis/postgis:17-3.5 (+ Redis 7)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36393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kartoza · Supabase-only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image; QGIS + DBeaver to inspect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RBAC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92024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 + role claims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30352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· Auth0 · FastAPI-Users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not a day; works offline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4471416"/>
            <a:ext cx="11155680" cy="420624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44988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4498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enum + transitions table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303520" y="4498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· python-statemachine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and timeline UI for free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49286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920240" y="49286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via Planetary Computer, NDVI/NDBI Δ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303520" y="49286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 · Copernicus · pretrained models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49286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Anonymous, pure Python, explainable, offline COGs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" y="5330952"/>
            <a:ext cx="11155680" cy="420624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53583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1920240" y="53583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 · React 19 · TanStack · Tailwind v4 · shadcn · ECharts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303520" y="53583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5358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fights MapLibre; SPA deploys as static files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788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hosting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1920240" y="5788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 + segno · Render + Vercel + Neon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303520" y="57881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· Railway · Fly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8229600" y="5788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HTML template; current free tiers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model: a common data model, keyed by geometry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keep their vocabulary; adapters map into the CDM; the UI renders only the CDM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55648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ULPIN-style identifier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148840"/>
            <a:ext cx="5065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ULPIN is 14 characters derived from parcel vertex coordinates (ECCMA PNIU); the exact derivation is not public. We derive a deterministic 14-char ID from geometry and label it ULPIN-style everywhere.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geohash(centroid, 7) + blake2b(wkb)[:7]  →  TDR1K3M9A2F7C1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4041648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4434840"/>
            <a:ext cx="50657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landstack — parcels (geom), users, applications, transitions, audit_log, alerts, reports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dept_revenue — ror (khata, patta, extent)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dept_registration — deeds, encumbrances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dept_planning — zones (geom), building_permissions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dept_fiscal — property_tax, valuation · dept_legal — disputes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dept_utilities — connections · gis — roads, restriction_zones, projects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FC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· GET /landstack/parcels/{ulpin}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1031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"ulpin": "TDR1K3M9A2F7C1",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"identifiers": { state, district, village, survey_no, khata_no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"spatial":     { area_sqm, centroid, crs: "EPSG:4326"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"party":       { owners: [{ name, share, type }], masked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"rights":      { registration: {…}, ror: {…}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"restrictions":{ encumbrances, disputes, restriction_zones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"planning":    { zone, land_use, building_permission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"fiscal":      { tax: {…}, guideline_value_per_sqm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"utilities":   { water, electricity, sewer, road_access_m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"alerts":      [ … ],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"provenance":  { revenue: { ok, ms, as_of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fiscal: { ok: false, cached_as_of } 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"consistency": { area_match, owner_match } }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5715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follow ISO 19152 LADM: Party · RRR · Spatial Unit. provenance lets a failed source degrade one block, not the page.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contract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is OGC API Features-shaped; departments look like plausible legacy services with their own vocabulary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/auth/login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920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 sub · role · department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042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/landstack/collections/parcels/items?bbox=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304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GeoJSON, base attributes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883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/landstack/parcels/{ulpin}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6883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CDM · masked for citizens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072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/landstack/search?q=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0723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ULPIN · survey no. · khata · owner (officer+)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56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/landstack/verify-ownership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456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no-match, never the full name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/landstack/applications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840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· building permission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245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/landstack/applications/{id}/transition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224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transitions; audited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085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/landstack/queue · /stats · /consistency · /connectors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46085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and admin consoles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9926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/landstack/events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4992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webhook from departments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766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/landstack/reports/{ulpin} · GET /verify/{id}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5376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Land Information Report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60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/landstack/ai/change-detection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5760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metrics · label · confidence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· each with its own /docs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98080" y="1920240"/>
            <a:ext cx="4114800" cy="3017520"/>
          </a:xfrm>
          <a:prstGeom prst="roundRect">
            <a:avLst>
              <a:gd name="adj" fmla="val 2424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201168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/revenue/ror?ulpin=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/revenue/mutations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/registration/deeds?ulpin=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/registration/encumbrances?ulpin=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/registration/deeds  → event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/planning/zone?ulpin=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/planning/permissions?ulpin=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/fiscal/tax?ulpin=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/fiscal/valuation?ulpin=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/legal/disputes?ulpin=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4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/utilities/connections?ulpin=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51206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62672" y="5230368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662672" y="5623560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3.1 · JSON · ISO 8601 UTC · GeoJSON RFC 7946 · error envelope · Idempotency-Key on POST · X-Source-System + as_of on every department response · ?delay_ms / ?fail=1 in dev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Interoperability: three small contracts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adapter interface, a declarative field mapping per state, and an event contract — demonstrated live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14181A"/>
          </a:solidFill>
          <a:ln w="12700">
            <a:solidFill>
              <a:srgbClr val="1418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DepartmentAdapter(Protocol):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def fetch(self, ulpin) -&gt; CDMFragment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def health(self) -&gt; Health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mapping(self) -&gt; dict[str, str]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adapters/revenue_tn.yaml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TN Patta Chitta (mock)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id_field: patta_no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pattadar_name:   party.owners[0].name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extent_hectares: rights.ror.extent_sqm   # ha → sqm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9D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units: { extent: hectare 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09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YAML files (AP · TN) prove the pattern: different field names, different units, same CDM. The Admin console renders them as mapping tables — what an integration officer would actually configure.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SYNC MOMENT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26480" y="2121408"/>
            <a:ext cx="457200" cy="457200"/>
          </a:xfrm>
          <a:prstGeom prst="ellipse">
            <a:avLst/>
          </a:prstGeom>
          <a:solidFill>
            <a:srgbClr val="9A6B12"/>
          </a:solidFill>
          <a:ln w="12700">
            <a:solidFill>
              <a:srgbClr val="9A6B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011680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mock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registers a sale deed on 123/4 to Lakshmi Devi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907792"/>
            <a:ext cx="457200" cy="457200"/>
          </a:xfrm>
          <a:prstGeom prst="ellipse">
            <a:avLst/>
          </a:prstGeom>
          <a:solidFill>
            <a:srgbClr val="9A6B12"/>
          </a:solidFill>
          <a:ln w="12700">
            <a:solidFill>
              <a:srgbClr val="9A6B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798064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registration.deed_registered → POST /landstack/events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3694176"/>
            <a:ext cx="457200" cy="457200"/>
          </a:xfrm>
          <a:prstGeom prst="ellipse">
            <a:avLst/>
          </a:prstGeom>
          <a:solidFill>
            <a:srgbClr val="9A6B12"/>
          </a:solidFill>
          <a:ln w="12700">
            <a:solidFill>
              <a:srgbClr val="9A6B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358444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invalidated · audit row · claimant ≠ RoR owner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4480560"/>
            <a:ext cx="457200" cy="457200"/>
          </a:xfrm>
          <a:prstGeom prst="ellipse">
            <a:avLst/>
          </a:prstGeom>
          <a:solidFill>
            <a:srgbClr val="9A6B12"/>
          </a:solidFill>
          <a:ln w="12700">
            <a:solidFill>
              <a:srgbClr val="9A6B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4370832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task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turns amber; system-initiated mutation lands in the revenue queue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5266944"/>
            <a:ext cx="457200" cy="457200"/>
          </a:xfrm>
          <a:prstGeom prst="ellipse">
            <a:avLst/>
          </a:prstGeom>
          <a:solidFill>
            <a:srgbClr val="9A6B12"/>
          </a:solidFill>
          <a:ln w="12700">
            <a:solidFill>
              <a:srgbClr val="9A6B1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5157216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with a remark → RoR updates → map returns to green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5943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Karnataka's Kaveri → Bhoomi J-slip hand-off — except the mismatch becomes a visible task instead of a silent failure.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feature: satellite land-use change detection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feature, made unmissable: explainable, offline-capable, and it generates work for the officer queue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6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−0.31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ΔNDVI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A6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ΔNDBI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91 %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889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124 · vegetation → built-up · RoR says agricultural · no building permission on file → high-severity alert → 'Send for field review'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11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611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Sentinel-2 L2A on the Planetary Computer STAC: two dry-season windows (2019, 2025), cloud &lt; 10 %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416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0416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B04 · B08 · B11 with odc-stac, clipped to the village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7141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47141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 = (B08−B04)/(B08+B04) · NDBI = (B11−B08)/(B11+B08) for both dates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9011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9011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mean per parcel (rasterstats) → ΔNDVI, ΔNDBI per ULPIN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3095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3309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→ label: vegetation→built-up · vegetation loss · new construction · no change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760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760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with RoR and permissions → alert + field-review task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1645920"/>
            <a:ext cx="4937760" cy="1554480"/>
          </a:xfrm>
          <a:prstGeom prst="roundRect">
            <a:avLst>
              <a:gd name="adj" fmla="val 4706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39712" y="175564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 neural network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39712" y="2148840"/>
            <a:ext cx="4608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change-detection models are unpredictable on peri-urban Indian parcels and eat the two-day budget in setup. Index differencing runs on a laptop and a revenue officer can understand it in one sentence.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75120" y="338328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F5EAD0"/>
          </a:solidFill>
          <a:ln w="9525">
            <a:solidFill>
              <a:srgbClr val="9A6B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39712" y="349300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guarantee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39712" y="3886200"/>
            <a:ext cx="4608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clipped Cloud-Optimised GeoTIFFs live in data/s2/. With OFFLINE=1 the endpoint reads local files in under a second. The stage demo runs offline; the live path is a bonus.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75120" y="484632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39712" y="495604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second feature (Day 5, if green)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839712" y="5349240"/>
            <a:ext cx="4608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RoR → Gemini Flash with a Pydantic schema → structured fields with confidence, shown beside the scan for one-click acceptance. Tesseract (tel/hin) behind a flag.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roles and audit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with role claims, consent-scoped access to personal fields, and an append-only audit log the UI shows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1645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6459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officer:revenue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officer:registration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16459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officer:planning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645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8961120" cy="36576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map &amp; base attributes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011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011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 name / doc numbers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377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2377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743200"/>
            <a:ext cx="8961120" cy="36576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ownership (yes/no)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2743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2743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89788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2743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application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56616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89788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503920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3474720"/>
            <a:ext cx="8961120" cy="36576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mutation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3566160" y="3474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663440" y="3474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89788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3474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50392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building permission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56616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663440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589788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269480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503920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" y="4206240"/>
            <a:ext cx="8961120" cy="36576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8640" y="4206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deed (mock upstream)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3566160" y="4206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663440" y="4206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589788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7269480" y="4206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503920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 / field review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3566160" y="4572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4663440" y="4572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589788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7269480" y="4572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850392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02920" y="4937760"/>
            <a:ext cx="8961120" cy="365760"/>
          </a:xfrm>
          <a:prstGeom prst="rect">
            <a:avLst/>
          </a:prstGeom>
          <a:solidFill>
            <a:srgbClr val="F3F5F2"/>
          </a:solidFill>
          <a:ln w="12700">
            <a:solidFill>
              <a:srgbClr val="F3F5F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48640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· mappings · consistency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3566160" y="4937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4663440" y="4937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5897880" y="4937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7269480" y="4937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8503920" y="4937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54864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audit timeline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3566160" y="5303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4663440" y="5303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5897880" y="5303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5303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8503920" y="5303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601200" y="164592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765792" y="175564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9765792" y="214884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15 min · refresh 7 d · HS256 now, RS256 + rotation in prod · one require(role, dept)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9601200" y="28803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765792" y="299008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9765792" y="33832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requests full detail; owner grants a token scoped to ULPIN + expiry (DEPA pattern)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601200" y="41148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765792" y="422452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9765792" y="461772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and every full-detail read; DB role has INSERT only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601200" y="521208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9765792" y="532180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9765792" y="571500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HMAC; /verify returns a verdict, no personal data</a:t>
            </a:r>
            <a:endParaRPr lang="en-US" sz="1000" dirty="0"/>
          </a:p>
        </p:txBody>
      </p:sp>
      <p:sp>
        <p:nvSpPr>
          <p:cNvPr id="86" name="Text 8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days, six lanes, one gate per 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new starts until the previous gate is green — that is how the scope survives the week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Map  </a:t>
            </a:r>
            <a:pPr algn="ctr"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23160" y="1600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2316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Portals  </a:t>
            </a:r>
            <a:pPr algn="ctr"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Gateway  </a:t>
            </a:r>
            <a:pPr algn="ctr"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Data &amp; GIS  </a:t>
            </a:r>
            <a:pPr algn="ctr"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AI  </a:t>
            </a:r>
            <a:pPr algn="ctr"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21240" y="1600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DCEEE7"/>
          </a:solidFill>
          <a:ln w="12700">
            <a:solidFill>
              <a:srgbClr val="DCEE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2124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Docs &amp; QA  </a:t>
            </a:r>
            <a:pPr algn="ctr" indent="0" marL="0">
              <a:buNone/>
            </a:pPr>
            <a:r>
              <a:rPr lang="en-US" sz="10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240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240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· compose · auth · empty map · schemas · STAC smoke test · CDM frozen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0" y="2295144"/>
            <a:ext cx="3749040" cy="393192"/>
          </a:xfrm>
          <a:prstGeom prst="roundRect">
            <a:avLst>
              <a:gd name="adj" fmla="val 13953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73568" y="2295144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Login works · imagery renders · STAC returns scenes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8072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80720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 the map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complete · department APIs · aggregator · parcels as tiles · profile drawer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3840" y="2862072"/>
            <a:ext cx="3749040" cy="393192"/>
          </a:xfrm>
          <a:prstGeom prst="roundRect">
            <a:avLst>
              <a:gd name="adj" fmla="val 13953"/>
            </a:avLst>
          </a:prstGeom>
          <a:solidFill>
            <a:srgbClr val="F5EAD0"/>
          </a:solidFill>
          <a:ln w="9525">
            <a:solidFill>
              <a:srgbClr val="9A6B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73568" y="2862072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Click any parcel → full profile &lt; 500 ms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3741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37413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&amp; workflows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layer tree · workflow engine · citizen forms · change-detection endpoint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3429000"/>
            <a:ext cx="3749040" cy="393192"/>
          </a:xfrm>
          <a:prstGeom prst="roundRect">
            <a:avLst>
              <a:gd name="adj" fmla="val 13953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73568" y="3429000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Mutation: submit → queue → approve → RoR changes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9410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394106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Consoles &amp; interop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+ admin consoles · events webhook · second adapter · satellite panel · deploy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63840" y="3995928"/>
            <a:ext cx="3749040" cy="393192"/>
          </a:xfrm>
          <a:prstGeom prst="roundRect">
            <a:avLst>
              <a:gd name="adj" fmla="val 13953"/>
            </a:avLst>
          </a:prstGeom>
          <a:solidFill>
            <a:srgbClr val="F5EAD0"/>
          </a:solidFill>
          <a:ln w="9525">
            <a:solidFill>
              <a:srgbClr val="9A6B1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73568" y="3995928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Live sync demo end to end from clean reset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5079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450799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polish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verify · partial/error states · OCR only if green · feature freeze 21:00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63840" y="4562856"/>
            <a:ext cx="3749040" cy="393192"/>
          </a:xfrm>
          <a:prstGeom prst="roundRect">
            <a:avLst>
              <a:gd name="adj" fmla="val 13953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73568" y="4562856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No new features after freeze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074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" y="50749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timed runs · chaos pass (kill a service, cut Wi-Fi) · OpenAPI export · backup video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863840" y="5129784"/>
            <a:ext cx="3749040" cy="393192"/>
          </a:xfrm>
          <a:prstGeom prst="roundRect">
            <a:avLst>
              <a:gd name="adj" fmla="val 13953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73568" y="5129784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3 of 3 rehearsals pass cold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641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1097280" y="564184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second village if everything is green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63840" y="5696712"/>
            <a:ext cx="3749040" cy="393192"/>
          </a:xfrm>
          <a:prstGeom prst="roundRect">
            <a:avLst>
              <a:gd name="adj" fmla="val 13953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73568" y="5696712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Tag v1.0 · freeze stage branch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six-minute demo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story, one parcel family, no tab-hunting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190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</a:t>
            </a:r>
            <a:pPr indent="0" marL="0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console: six disconnected connectors. 'Today Ravi visits six offices to learn one thing about one plot.'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737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7190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 </a:t>
            </a:r>
            <a:pPr indent="0" marL="0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on imagery; toggle base → essential → use-case; colour by status so disputes and mortgages pop.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880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8620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 </a:t>
            </a:r>
            <a:pPr indent="0" marL="0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123/4: ownership, deed, zone, tax, no disputes, utilities — source badges and as-of times; open Timeline.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788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2880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8620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Interoperability, live  </a:t>
            </a:r>
            <a:pPr indent="0" marL="0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sale deed to Lakshmi Devi; parcel turns amber; mismatch banner; mutation appears in the revenue queue.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023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0050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 </a:t>
            </a:r>
            <a:pPr indent="0" marL="0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Lakshmi: verify ownership (masked), track the mutation, download the signed report, scan the QR on a phone.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4023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0050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 </a:t>
            </a:r>
            <a:pPr indent="0" marL="0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with a remark; RoR updates; map back to green; audit shows machine and human steps.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166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1480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</a:t>
            </a:r>
            <a:pPr indent="0" marL="0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panel on parcel 124: 2019 vs 2025, NDVI −0.31, NDBI +0.18, built-up at 91 %; send for field review.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5074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3F5F2"/>
          </a:solidFill>
          <a:ln w="9525">
            <a:solidFill>
              <a:srgbClr val="D9D7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5166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514807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 </a:t>
            </a:r>
            <a:pPr indent="0" marL="0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A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the fiscal service; profile degrades gracefully. Close on the STD and the seven OpenAPI pages.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6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line: six systems, one key, open standards.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village to a national Land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C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same contracts — only the deployment shape changes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B2123"/>
          </a:solidFill>
          <a:ln w="12700">
            <a:solidFill>
              <a:srgbClr val="4FC3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village · 400–800 parcels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on one laptop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B2123"/>
          </a:solidFill>
          <a:ln w="12700">
            <a:solidFill>
              <a:srgbClr val="2E37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lakh parcels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697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PostGIS · 2+ gateway replicas · Redis · real revenue &amp; registration adapters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B2123"/>
          </a:solidFill>
          <a:ln w="12700">
            <a:solidFill>
              <a:srgbClr val="2E373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5–50 lakh parcels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697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 · Martin behind CDN, nightly PMTiles · async AI workers · state SSO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B2123"/>
          </a:solidFill>
          <a:ln w="12700">
            <a:solidFill>
              <a:srgbClr val="2E37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C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states &amp; UTs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697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B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state gateways · discovery keyed by ULPIN prefix · CDM as national schema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4480560"/>
            <a:ext cx="822960" cy="576072"/>
          </a:xfrm>
          <a:prstGeom prst="rect">
            <a:avLst/>
          </a:prstGeom>
          <a:solidFill>
            <a:srgbClr val="1F2A26"/>
          </a:solidFill>
          <a:ln w="12700">
            <a:solidFill>
              <a:srgbClr val="4FC39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52560" y="4480560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4FC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9916668" y="4480560"/>
            <a:ext cx="658368" cy="576072"/>
          </a:xfrm>
          <a:prstGeom prst="rect">
            <a:avLst/>
          </a:prstGeom>
          <a:solidFill>
            <a:srgbClr val="1B3A31"/>
          </a:solidFill>
          <a:ln w="12700">
            <a:solidFill>
              <a:srgbClr val="4FC39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16668" y="4480560"/>
            <a:ext cx="6583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4FC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123/1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10616184" y="4480560"/>
            <a:ext cx="740664" cy="946404"/>
          </a:xfrm>
          <a:prstGeom prst="rect">
            <a:avLst/>
          </a:prstGeom>
          <a:solidFill>
            <a:srgbClr val="1F2A26"/>
          </a:solidFill>
          <a:ln w="12700">
            <a:solidFill>
              <a:srgbClr val="4FC39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616184" y="4480560"/>
            <a:ext cx="740664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4FC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9052560" y="5097780"/>
            <a:ext cx="493776" cy="740664"/>
          </a:xfrm>
          <a:prstGeom prst="rect">
            <a:avLst/>
          </a:prstGeom>
          <a:solidFill>
            <a:srgbClr val="26332E"/>
          </a:solidFill>
          <a:ln w="12700">
            <a:solidFill>
              <a:srgbClr val="4FC39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52560" y="5097780"/>
            <a:ext cx="4937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4FC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9587484" y="5097780"/>
            <a:ext cx="987552" cy="740664"/>
          </a:xfrm>
          <a:prstGeom prst="rect">
            <a:avLst/>
          </a:prstGeom>
          <a:solidFill>
            <a:srgbClr val="1B3A31"/>
          </a:solidFill>
          <a:ln w="12700">
            <a:solidFill>
              <a:srgbClr val="4FC39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587484" y="5097780"/>
            <a:ext cx="9875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4FC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123/2A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10616184" y="5468112"/>
            <a:ext cx="740664" cy="370332"/>
          </a:xfrm>
          <a:prstGeom prst="rect">
            <a:avLst/>
          </a:prstGeom>
          <a:solidFill>
            <a:srgbClr val="1F2A26"/>
          </a:solidFill>
          <a:ln w="12700">
            <a:solidFill>
              <a:srgbClr val="4FC39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16184" y="5468112"/>
            <a:ext cx="74066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4FC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</a:t>
            </a:r>
            <a:endParaRPr lang="en-US" sz="81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wins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8463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GIS portal — the open interoperability layer the real Land Stack pilot does not expose.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PS outcome is a live screen, not a slide; interoperability is a 20-second moment on stage.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data story: ULPIN-style IDs, synthetic cadastre in a real village, adapters as the path to real systems.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is explainable, offline, and creates work for officers instead of a demo-only chart.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Stack · SIH26014 ·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 Stack — SIH 2026 SIH26014</dc:title>
  <dc:subject>PptxGenJS Presentation</dc:subject>
  <dc:creator>Team Land Stack</dc:creator>
  <cp:lastModifiedBy>Team Land Stack</cp:lastModifiedBy>
  <cp:revision>1</cp:revision>
  <dcterms:created xsi:type="dcterms:W3CDTF">2026-09-12T20:20:26Z</dcterms:created>
  <dcterms:modified xsi:type="dcterms:W3CDTF">2026-09-12T20:20:26Z</dcterms:modified>
</cp:coreProperties>
</file>